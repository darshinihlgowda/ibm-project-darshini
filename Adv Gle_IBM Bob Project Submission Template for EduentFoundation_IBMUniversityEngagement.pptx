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62" r:id="rId10"/>
    <p:sldId id="264" r:id="rId11"/>
    <p:sldId id="290" r:id="rId12"/>
    <p:sldId id="292" r:id="rId13"/>
    <p:sldId id="293"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B1479F-C94B-4F6F-AB42-2D04D86EFB20}" v="3" dt="2026-10-14T17:24:32.67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shinihlgowda@gmail.com" userId="ad96a449906f76c4" providerId="LiveId" clId="{65EC213A-6C75-4CB9-A811-718A258D76FD}"/>
    <pc:docChg chg="undo redo custSel modSld">
      <pc:chgData name="darshinihlgowda@gmail.com" userId="ad96a449906f76c4" providerId="LiveId" clId="{65EC213A-6C75-4CB9-A811-718A258D76FD}" dt="2026-10-14T17:26:07.099" v="172" actId="113"/>
      <pc:docMkLst>
        <pc:docMk/>
      </pc:docMkLst>
      <pc:sldChg chg="addSp delSp modSp mod">
        <pc:chgData name="darshinihlgowda@gmail.com" userId="ad96a449906f76c4" providerId="LiveId" clId="{65EC213A-6C75-4CB9-A811-718A258D76FD}" dt="2026-10-14T17:26:07.099" v="172" actId="113"/>
        <pc:sldMkLst>
          <pc:docMk/>
          <pc:sldMk cId="0" sldId="257"/>
        </pc:sldMkLst>
        <pc:spChg chg="del mod">
          <ac:chgData name="darshinihlgowda@gmail.com" userId="ad96a449906f76c4" providerId="LiveId" clId="{65EC213A-6C75-4CB9-A811-718A258D76FD}" dt="2026-10-14T17:21:30.944" v="29"/>
          <ac:spMkLst>
            <pc:docMk/>
            <pc:sldMk cId="0" sldId="257"/>
            <ac:spMk id="3" creationId="{B0B023FA-CFEB-ACE9-8425-7E72E307CDC5}"/>
          </ac:spMkLst>
        </pc:spChg>
        <pc:spChg chg="mod">
          <ac:chgData name="darshinihlgowda@gmail.com" userId="ad96a449906f76c4" providerId="LiveId" clId="{65EC213A-6C75-4CB9-A811-718A258D76FD}" dt="2026-10-14T17:26:07.099" v="172" actId="113"/>
          <ac:spMkLst>
            <pc:docMk/>
            <pc:sldMk cId="0" sldId="257"/>
            <ac:spMk id="4" creationId="{A828B9EF-C084-F5D4-CA27-75AF7D995640}"/>
          </ac:spMkLst>
        </pc:spChg>
        <pc:spChg chg="mod">
          <ac:chgData name="darshinihlgowda@gmail.com" userId="ad96a449906f76c4" providerId="LiveId" clId="{65EC213A-6C75-4CB9-A811-718A258D76FD}" dt="2026-10-14T17:24:43.631" v="148" actId="113"/>
          <ac:spMkLst>
            <pc:docMk/>
            <pc:sldMk cId="0" sldId="257"/>
            <ac:spMk id="7" creationId="{3D723CA3-EC2D-165A-F109-3759C4E9C8A4}"/>
          </ac:spMkLst>
        </pc:spChg>
        <pc:graphicFrameChg chg="modGraphic">
          <ac:chgData name="darshinihlgowda@gmail.com" userId="ad96a449906f76c4" providerId="LiveId" clId="{65EC213A-6C75-4CB9-A811-718A258D76FD}" dt="2026-10-14T17:23:02.412" v="91" actId="255"/>
          <ac:graphicFrameMkLst>
            <pc:docMk/>
            <pc:sldMk cId="0" sldId="257"/>
            <ac:graphicFrameMk id="96" creationId="{00000000-0000-0000-0000-000000000000}"/>
          </ac:graphicFrameMkLst>
        </pc:graphicFrameChg>
        <pc:picChg chg="add mod">
          <ac:chgData name="darshinihlgowda@gmail.com" userId="ad96a449906f76c4" providerId="LiveId" clId="{65EC213A-6C75-4CB9-A811-718A258D76FD}" dt="2026-10-14T17:21:56.305" v="38" actId="1076"/>
          <ac:picMkLst>
            <pc:docMk/>
            <pc:sldMk cId="0" sldId="257"/>
            <ac:picMk id="5" creationId="{A9176774-AC89-2797-277C-83AA58B23554}"/>
          </ac:picMkLst>
        </pc:picChg>
        <pc:picChg chg="del">
          <ac:chgData name="darshinihlgowda@gmail.com" userId="ad96a449906f76c4" providerId="LiveId" clId="{65EC213A-6C75-4CB9-A811-718A258D76FD}" dt="2026-10-14T17:21:30.941" v="27" actId="478"/>
          <ac:picMkLst>
            <pc:docMk/>
            <pc:sldMk cId="0" sldId="257"/>
            <ac:picMk id="98"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372748219"/>
              </p:ext>
            </p:extLst>
          </p:nvPr>
        </p:nvGraphicFramePr>
        <p:xfrm>
          <a:off x="1273629" y="2600315"/>
          <a:ext cx="9420617" cy="2167128"/>
        </p:xfrm>
        <a:graphic>
          <a:graphicData uri="http://schemas.openxmlformats.org/drawingml/2006/table">
            <a:tbl>
              <a:tblPr>
                <a:noFill/>
                <a:tableStyleId>{0AAD8F4D-43EB-41E5-8A38-28AB6DFB1B60}</a:tableStyleId>
              </a:tblPr>
              <a:tblGrid>
                <a:gridCol w="2090495">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sz="2000" dirty="0"/>
                    </a:p>
                    <a:p>
                      <a:pPr marL="0" marR="0" lvl="0" indent="0" algn="ctr" rtl="0">
                        <a:spcBef>
                          <a:spcPts val="0"/>
                        </a:spcBef>
                        <a:spcAft>
                          <a:spcPts val="0"/>
                        </a:spcAft>
                        <a:buNone/>
                      </a:pPr>
                      <a:r>
                        <a:rPr lang="en-US" sz="2000" dirty="0"/>
                        <a:t>DARSHINI H L</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darshinigowda244@gmail.com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9110825080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dirty="0"/>
              <a:t>– Sports Technology</a:t>
            </a:r>
            <a:endParaRPr lang="en-IN" sz="2400"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IN" sz="2400" dirty="0"/>
              <a:t>The Athlete Performance Analysis Assistant The Challenge</a:t>
            </a:r>
            <a:endParaRPr lang="en-IN" sz="2400" b="1" dirty="0">
              <a:highlight>
                <a:srgbClr val="FFFF00"/>
              </a:highlight>
            </a:endParaRPr>
          </a:p>
        </p:txBody>
      </p:sp>
      <p:pic>
        <p:nvPicPr>
          <p:cNvPr id="5" name="Picture 4">
            <a:extLst>
              <a:ext uri="{FF2B5EF4-FFF2-40B4-BE49-F238E27FC236}">
                <a16:creationId xmlns:a16="http://schemas.microsoft.com/office/drawing/2014/main" id="{A9176774-AC89-2797-277C-83AA58B23554}"/>
              </a:ext>
            </a:extLst>
          </p:cNvPr>
          <p:cNvPicPr>
            <a:picLocks noChangeAspect="1"/>
          </p:cNvPicPr>
          <p:nvPr/>
        </p:nvPicPr>
        <p:blipFill>
          <a:blip r:embed="rId3"/>
          <a:stretch>
            <a:fillRect/>
          </a:stretch>
        </p:blipFill>
        <p:spPr>
          <a:xfrm>
            <a:off x="4104385" y="3657600"/>
            <a:ext cx="817834" cy="11098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r>
              <a:rPr lang="en-US" b="1" dirty="0"/>
              <a:t>Problem Statement : The Athlete Performance Analysis Assistant</a:t>
            </a:r>
          </a:p>
          <a:p>
            <a:endParaRPr lang="en-IN" dirty="0"/>
          </a:p>
          <a:p>
            <a:r>
              <a:rPr lang="en-US" b="1" dirty="0"/>
              <a:t>The Challenge</a:t>
            </a:r>
            <a:br>
              <a:rPr lang="en-US" dirty="0"/>
            </a:br>
            <a:r>
              <a:rPr lang="en-US" dirty="0"/>
              <a:t>Athletes generate large amounts of performance data during training and competitions, including fitness metrics, match statistics, and workload indicators. Coaches often struggle to convert this raw data into actionable insights that improve performance.</a:t>
            </a:r>
          </a:p>
          <a:p>
            <a:endParaRPr lang="en-IN" dirty="0"/>
          </a:p>
          <a:p>
            <a:r>
              <a:rPr lang="en-US" b="1" dirty="0"/>
              <a:t>The Objective</a:t>
            </a:r>
            <a:br>
              <a:rPr lang="en-US" dirty="0"/>
            </a:br>
            <a:r>
              <a:rPr lang="en-US" dirty="0"/>
              <a:t>Build an AI‑powered Athlete Performance Analysis Assistant that evaluates athlete performance using training data, fitness metrics, and match statistics.</a:t>
            </a:r>
            <a:endParaRPr lang="en-IN" dirty="0"/>
          </a:p>
          <a:p>
            <a:pPr lvl="0"/>
            <a:r>
              <a:rPr lang="en-IN" b="1" dirty="0"/>
              <a:t>1. Performance Data Retrieval (RAG) :–</a:t>
            </a:r>
            <a:r>
              <a:rPr lang="en-IN" dirty="0"/>
              <a:t> Collect athlete statistics, training records, and fitness data.</a:t>
            </a:r>
          </a:p>
          <a:p>
            <a:pPr lvl="0"/>
            <a:r>
              <a:rPr lang="en-US" b="1" dirty="0"/>
              <a:t>2. Performance Trend Analysis :–</a:t>
            </a:r>
            <a:r>
              <a:rPr lang="en-US" dirty="0"/>
              <a:t> Identify strengths, weaknesses, and improvement opportunities.</a:t>
            </a:r>
            <a:endParaRPr lang="en-IN" dirty="0"/>
          </a:p>
          <a:p>
            <a:pPr lvl="0"/>
            <a:r>
              <a:rPr lang="en-US" b="1" dirty="0"/>
              <a:t>3. Training Recommendations :- </a:t>
            </a:r>
            <a:r>
              <a:rPr lang="en-US" dirty="0"/>
              <a:t>Suggest personalized training strategies based on performance patterns.</a:t>
            </a:r>
            <a:endParaRPr lang="en-IN" dirty="0"/>
          </a:p>
          <a:p>
            <a:pPr lvl="0"/>
            <a:r>
              <a:rPr lang="en-US" b="1" dirty="0"/>
              <a:t>4. Coaching Insights :– </a:t>
            </a:r>
            <a:r>
              <a:rPr lang="en-US" dirty="0"/>
              <a:t>Provide clear summaries and reports for coaching staff.</a:t>
            </a:r>
            <a:endParaRPr lang="en-IN" dirty="0"/>
          </a:p>
          <a:p>
            <a:pPr lvl="0"/>
            <a:r>
              <a:rPr lang="en-US" b="1" dirty="0"/>
              <a:t>5. Multi‑Agent System</a:t>
            </a:r>
            <a:endParaRPr lang="en-IN" dirty="0"/>
          </a:p>
          <a:p>
            <a:pPr marL="285750" lvl="0" indent="-285750">
              <a:buFont typeface="Arial" panose="020B0604020202020204" pitchFamily="34" charset="0"/>
              <a:buChar char="•"/>
            </a:pPr>
            <a:r>
              <a:rPr lang="en-US" dirty="0"/>
              <a:t>Athlete Data Agent – Retrieves training and performance data.</a:t>
            </a:r>
            <a:endParaRPr lang="en-IN" dirty="0"/>
          </a:p>
          <a:p>
            <a:pPr marL="285750" lvl="0" indent="-285750">
              <a:buFont typeface="Arial" panose="020B0604020202020204" pitchFamily="34" charset="0"/>
              <a:buChar char="•"/>
            </a:pPr>
            <a:r>
              <a:rPr lang="en-US" dirty="0"/>
              <a:t>Performance Analysis Agent – Evaluates performance metrics and trends.</a:t>
            </a:r>
            <a:endParaRPr lang="en-IN" dirty="0"/>
          </a:p>
          <a:p>
            <a:pPr marL="285750" lvl="0" indent="-285750">
              <a:buFont typeface="Arial" panose="020B0604020202020204" pitchFamily="34" charset="0"/>
              <a:buChar char="•"/>
            </a:pPr>
            <a:r>
              <a:rPr lang="en-US" dirty="0"/>
              <a:t>Training Recommendation Agent – Suggests improvement strategies.</a:t>
            </a:r>
            <a:endParaRPr lang="en-IN" dirty="0"/>
          </a:p>
          <a:p>
            <a:pPr marL="285750" lvl="0" indent="-285750">
              <a:buFont typeface="Arial" panose="020B0604020202020204" pitchFamily="34" charset="0"/>
              <a:buChar char="•"/>
            </a:pPr>
            <a:r>
              <a:rPr lang="en-US" dirty="0"/>
              <a:t>Coaching Insight Agent – Generates performance reports.</a:t>
            </a:r>
            <a:endParaRPr lang="en-IN" dirty="0"/>
          </a:p>
          <a:p>
            <a:pPr lvl="0"/>
            <a:r>
              <a:rPr lang="en-US" b="1" dirty="0"/>
              <a:t>6. Visualization Dashboard</a:t>
            </a:r>
            <a:br>
              <a:rPr lang="en-US" dirty="0"/>
            </a:br>
            <a:r>
              <a:rPr lang="en-US" dirty="0"/>
              <a:t>Display performance trends, fitness metrics, improvement suggestions, and athlete comparisons.</a:t>
            </a:r>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970318"/>
          </a:xfrm>
          <a:prstGeom prst="rect">
            <a:avLst/>
          </a:prstGeom>
          <a:noFill/>
        </p:spPr>
        <p:txBody>
          <a:bodyPr wrap="square" rtlCol="0">
            <a:spAutoFit/>
          </a:bodyPr>
          <a:lstStyle/>
          <a:p>
            <a:r>
              <a:rPr lang="en-US" b="1" dirty="0"/>
              <a:t>Proposed Solution – AI-Powered Player Recruitment Intelligence Agent</a:t>
            </a:r>
          </a:p>
          <a:p>
            <a:endParaRPr lang="en-US" dirty="0"/>
          </a:p>
          <a:p>
            <a:r>
              <a:rPr lang="en-US" dirty="0"/>
              <a:t>The proposed solution is a </a:t>
            </a:r>
            <a:r>
              <a:rPr lang="en-US" b="1" dirty="0"/>
              <a:t>multi-agent AI-powered Player Recruitment Intelligence </a:t>
            </a:r>
            <a:r>
              <a:rPr lang="en-US" dirty="0"/>
              <a:t>Agent built using </a:t>
            </a:r>
            <a:r>
              <a:rPr lang="en-US" b="1" dirty="0"/>
              <a:t>IBM Bob, IBM watsonx.ai, and Granite Models </a:t>
            </a:r>
            <a:r>
              <a:rPr lang="en-US" dirty="0"/>
              <a:t>to help sports teams identify suitable players through data-driven analysis.</a:t>
            </a:r>
          </a:p>
          <a:p>
            <a:endParaRPr lang="en-US" dirty="0"/>
          </a:p>
          <a:p>
            <a:r>
              <a:rPr lang="en-US" dirty="0"/>
              <a:t>The system uses a </a:t>
            </a:r>
            <a:r>
              <a:rPr lang="en-US" b="1" dirty="0"/>
              <a:t>Retrieval-Augmented Generation (RAG) </a:t>
            </a:r>
            <a:r>
              <a:rPr lang="en-US" dirty="0"/>
              <a:t>pipeline to retrieve player statistics, match records, and scouting reports. It consists of four key agents:</a:t>
            </a:r>
          </a:p>
          <a:p>
            <a:endParaRPr lang="en-US" dirty="0"/>
          </a:p>
          <a:p>
            <a:r>
              <a:rPr lang="en-US" dirty="0"/>
              <a:t>1. Player Data Agent: Retrieves player statistics and match records.</a:t>
            </a:r>
          </a:p>
          <a:p>
            <a:r>
              <a:rPr lang="en-US" dirty="0"/>
              <a:t>2. Performance Analysis Agent: Evaluates players' strengths, weaknesses, scoring ability, and consistency.</a:t>
            </a:r>
          </a:p>
          <a:p>
            <a:r>
              <a:rPr lang="en-US" dirty="0"/>
              <a:t>3. Recruitment Recommendation Agent: Matches players with team requirements and ranks suitable candidates.</a:t>
            </a:r>
          </a:p>
          <a:p>
            <a:r>
              <a:rPr lang="en-US" dirty="0"/>
              <a:t>4. Scouting Insight Agent: Generates scouting reports and recruitment insights.</a:t>
            </a:r>
          </a:p>
          <a:p>
            <a:endParaRPr lang="en-US" dirty="0"/>
          </a:p>
          <a:p>
            <a:r>
              <a:rPr lang="en-US" dirty="0"/>
              <a:t>An interactive dashboard displays player rankings, performance comparisons, team-fit scores, and recruitment recommendations. IBM Bob supports application development, while watsonx.ai and Granite models can power AI-based analysis and recommendations.</a:t>
            </a:r>
          </a:p>
          <a:p>
            <a:endParaRPr lang="en-US" dirty="0"/>
          </a:p>
          <a:p>
            <a:r>
              <a:rPr lang="en-US" dirty="0"/>
              <a:t>Overall, the solution helps sports teams make faster, smarter, and data-driven recruitment decisions.</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108543"/>
          </a:xfrm>
          <a:prstGeom prst="rect">
            <a:avLst/>
          </a:prstGeom>
          <a:noFill/>
        </p:spPr>
        <p:txBody>
          <a:bodyPr wrap="square" rtlCol="0">
            <a:spAutoFit/>
          </a:bodyPr>
          <a:lstStyle/>
          <a:p>
            <a:endParaRPr lang="en-IN" dirty="0"/>
          </a:p>
          <a:p>
            <a:pPr marL="285750" indent="-285750">
              <a:buFont typeface="Arial" panose="020B0604020202020204" pitchFamily="34" charset="0"/>
              <a:buChar char="•"/>
            </a:pPr>
            <a:r>
              <a:rPr lang="en-IN" b="1" dirty="0"/>
              <a:t> IBM Bob </a:t>
            </a:r>
            <a:r>
              <a:rPr lang="en-IN" dirty="0"/>
              <a:t>– For application development and multi-agent workflow coordination.</a:t>
            </a:r>
          </a:p>
          <a:p>
            <a:endParaRPr lang="en-IN" dirty="0"/>
          </a:p>
          <a:p>
            <a:pPr marL="285750" indent="-285750">
              <a:buFont typeface="Arial" panose="020B0604020202020204" pitchFamily="34" charset="0"/>
              <a:buChar char="•"/>
            </a:pPr>
            <a:r>
              <a:rPr lang="en-IN" b="1" dirty="0"/>
              <a:t> IBM Granite Models </a:t>
            </a:r>
            <a:r>
              <a:rPr lang="en-IN" dirty="0"/>
              <a:t>– For player performance analysis and AI-powered recommendations.</a:t>
            </a:r>
          </a:p>
          <a:p>
            <a:endParaRPr lang="en-IN" dirty="0"/>
          </a:p>
          <a:p>
            <a:pPr marL="285750" indent="-285750">
              <a:buFont typeface="Arial" panose="020B0604020202020204" pitchFamily="34" charset="0"/>
              <a:buChar char="•"/>
            </a:pPr>
            <a:r>
              <a:rPr lang="en-IN" dirty="0"/>
              <a:t> </a:t>
            </a:r>
            <a:r>
              <a:rPr lang="en-IN" b="1" dirty="0"/>
              <a:t>IBM Cloud </a:t>
            </a:r>
            <a:r>
              <a:rPr lang="en-IN" dirty="0"/>
              <a:t>– For application deployment and hosting.</a:t>
            </a:r>
          </a:p>
          <a:p>
            <a:endParaRPr lang="en-IN" dirty="0"/>
          </a:p>
          <a:p>
            <a:pPr marL="285750" indent="-285750">
              <a:buFont typeface="Arial" panose="020B0604020202020204" pitchFamily="34" charset="0"/>
              <a:buChar char="•"/>
            </a:pPr>
            <a:r>
              <a:rPr lang="en-IN" dirty="0"/>
              <a:t> </a:t>
            </a:r>
            <a:r>
              <a:rPr lang="en-IN" b="1" dirty="0"/>
              <a:t>RAG</a:t>
            </a:r>
            <a:r>
              <a:rPr lang="en-IN" dirty="0"/>
              <a:t> – For retrieving player statistics and scouting reports.</a:t>
            </a:r>
          </a:p>
          <a:p>
            <a:endParaRPr lang="en-IN" dirty="0"/>
          </a:p>
          <a:p>
            <a:pPr marL="285750" indent="-285750">
              <a:buFont typeface="Arial" panose="020B0604020202020204" pitchFamily="34" charset="0"/>
              <a:buChar char="•"/>
            </a:pPr>
            <a:r>
              <a:rPr lang="en-IN" dirty="0"/>
              <a:t> </a:t>
            </a:r>
            <a:r>
              <a:rPr lang="en-IN" b="1" dirty="0"/>
              <a:t>IBM watsonx.ai </a:t>
            </a:r>
            <a:r>
              <a:rPr lang="en-IN" dirty="0"/>
              <a:t>– For AI model integration and embeddings.</a:t>
            </a:r>
          </a:p>
          <a:p>
            <a:endParaRPr lang="en-IN" dirty="0"/>
          </a:p>
          <a:p>
            <a:pPr marL="285750" indent="-285750">
              <a:buFont typeface="Arial" panose="020B0604020202020204" pitchFamily="34" charset="0"/>
              <a:buChar char="•"/>
            </a:pPr>
            <a:r>
              <a:rPr lang="en-IN" dirty="0"/>
              <a:t> </a:t>
            </a:r>
            <a:r>
              <a:rPr lang="en-IN" b="1" dirty="0"/>
              <a:t>FAISS/Chroma </a:t>
            </a:r>
            <a:r>
              <a:rPr lang="en-IN" dirty="0"/>
              <a:t>– For vector-based player data retrieval.</a:t>
            </a:r>
          </a:p>
          <a:p>
            <a:endParaRPr lang="en-IN" dirty="0"/>
          </a:p>
          <a:p>
            <a:pPr marL="285750" indent="-285750">
              <a:buFont typeface="Arial" panose="020B0604020202020204" pitchFamily="34" charset="0"/>
              <a:buChar char="•"/>
            </a:pPr>
            <a:r>
              <a:rPr lang="en-IN" dirty="0"/>
              <a:t> </a:t>
            </a:r>
            <a:r>
              <a:rPr lang="en-IN" b="1" dirty="0"/>
              <a:t>Python and Web Technologies </a:t>
            </a:r>
            <a:r>
              <a:rPr lang="en-IN" dirty="0"/>
              <a:t>– For data processing, backend development, and the interactive dashboard.</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570756"/>
          </a:xfrm>
          <a:prstGeom prst="rect">
            <a:avLst/>
          </a:prstGeom>
          <a:noFill/>
        </p:spPr>
        <p:txBody>
          <a:bodyPr wrap="square" rtlCol="0">
            <a:spAutoFit/>
          </a:bodyPr>
          <a:lstStyle/>
          <a:p>
            <a:pPr marL="342900" indent="-342900">
              <a:buFont typeface="+mj-lt"/>
              <a:buAutoNum type="arabicPeriod"/>
            </a:pPr>
            <a:endParaRPr lang="en-US" dirty="0"/>
          </a:p>
          <a:p>
            <a:r>
              <a:rPr lang="en-US" sz="1800" dirty="0"/>
              <a:t>1. App.py</a:t>
            </a:r>
          </a:p>
          <a:p>
            <a:endParaRPr lang="en-US" sz="1800" dirty="0"/>
          </a:p>
          <a:p>
            <a:r>
              <a:rPr lang="en-US" sz="1800" dirty="0"/>
              <a:t>2. Requirements.txt</a:t>
            </a:r>
          </a:p>
          <a:p>
            <a:endParaRPr lang="en-US" sz="1800" dirty="0"/>
          </a:p>
          <a:p>
            <a:r>
              <a:rPr lang="en-US" sz="1800" dirty="0"/>
              <a:t>3. Index.html</a:t>
            </a:r>
          </a:p>
          <a:p>
            <a:endParaRPr lang="en-US" sz="1800" dirty="0"/>
          </a:p>
          <a:p>
            <a:r>
              <a:rPr lang="en-US" sz="1800" dirty="0"/>
              <a:t>4. Style.css</a:t>
            </a:r>
          </a:p>
          <a:p>
            <a:endParaRPr lang="en-US" sz="1800" dirty="0"/>
          </a:p>
          <a:p>
            <a:r>
              <a:rPr lang="en-US" sz="1800" dirty="0"/>
              <a:t>5. Api.js</a:t>
            </a:r>
          </a:p>
          <a:p>
            <a:endParaRPr lang="en-US" sz="1800" dirty="0"/>
          </a:p>
          <a:p>
            <a:r>
              <a:rPr lang="en-US" sz="1800" dirty="0"/>
              <a:t>6. README.md</a:t>
            </a:r>
          </a:p>
          <a:p>
            <a:pPr marL="342900" indent="-342900">
              <a:buFont typeface="+mj-lt"/>
              <a:buAutoNum type="arabicPeriod"/>
            </a:pPr>
            <a:endParaRPr lang="en-US" sz="1800"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DFB999F4-6865-F856-B20A-2AA15D294DEF}"/>
              </a:ext>
            </a:extLst>
          </p:cNvPr>
          <p:cNvPicPr>
            <a:picLocks noChangeAspect="1"/>
          </p:cNvPicPr>
          <p:nvPr/>
        </p:nvPicPr>
        <p:blipFill>
          <a:blip r:embed="rId3"/>
          <a:stretch>
            <a:fillRect/>
          </a:stretch>
        </p:blipFill>
        <p:spPr>
          <a:xfrm>
            <a:off x="3288097" y="2067556"/>
            <a:ext cx="7815331" cy="4106286"/>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405075" y="2127547"/>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453859" y="1607747"/>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a:extLst>
              <a:ext uri="{FF2B5EF4-FFF2-40B4-BE49-F238E27FC236}">
                <a16:creationId xmlns:a16="http://schemas.microsoft.com/office/drawing/2014/main" id="{759E36D8-6DEC-A3DB-E97B-286ABB4C4BA8}"/>
              </a:ext>
            </a:extLst>
          </p:cNvPr>
          <p:cNvPicPr>
            <a:picLocks noChangeAspect="1"/>
          </p:cNvPicPr>
          <p:nvPr/>
        </p:nvPicPr>
        <p:blipFill>
          <a:blip r:embed="rId3"/>
          <a:stretch>
            <a:fillRect/>
          </a:stretch>
        </p:blipFill>
        <p:spPr>
          <a:xfrm>
            <a:off x="1095087" y="992467"/>
            <a:ext cx="9692656" cy="539760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1AD0D8-75A2-BA4C-7C7B-5711025AE395}"/>
              </a:ext>
            </a:extLst>
          </p:cNvPr>
          <p:cNvPicPr>
            <a:picLocks noChangeAspect="1"/>
          </p:cNvPicPr>
          <p:nvPr/>
        </p:nvPicPr>
        <p:blipFill>
          <a:blip r:embed="rId2"/>
          <a:stretch>
            <a:fillRect/>
          </a:stretch>
        </p:blipFill>
        <p:spPr>
          <a:xfrm>
            <a:off x="681110" y="413577"/>
            <a:ext cx="10829780" cy="6030845"/>
          </a:xfrm>
          <a:prstGeom prst="rect">
            <a:avLst/>
          </a:prstGeom>
        </p:spPr>
      </p:pic>
      <p:sp>
        <p:nvSpPr>
          <p:cNvPr id="6" name="Rectangle 5">
            <a:extLst>
              <a:ext uri="{FF2B5EF4-FFF2-40B4-BE49-F238E27FC236}">
                <a16:creationId xmlns:a16="http://schemas.microsoft.com/office/drawing/2014/main" id="{D1233CAF-099A-F444-64BA-5259F0817FF1}"/>
              </a:ext>
            </a:extLst>
          </p:cNvPr>
          <p:cNvSpPr/>
          <p:nvPr/>
        </p:nvSpPr>
        <p:spPr>
          <a:xfrm>
            <a:off x="3381818" y="3429000"/>
            <a:ext cx="4270839" cy="250371"/>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4858BCDA-63D0-D227-353D-14154B0719F7}"/>
              </a:ext>
            </a:extLst>
          </p:cNvPr>
          <p:cNvPicPr>
            <a:picLocks noChangeAspect="1"/>
          </p:cNvPicPr>
          <p:nvPr/>
        </p:nvPicPr>
        <p:blipFill>
          <a:blip r:embed="rId3"/>
          <a:stretch>
            <a:fillRect/>
          </a:stretch>
        </p:blipFill>
        <p:spPr>
          <a:xfrm>
            <a:off x="936171" y="761680"/>
            <a:ext cx="9734559" cy="600197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574766" y="261692"/>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US" b="1" dirty="0"/>
              <a:t>Role of Agentic AI in Nutrition Agent</a:t>
            </a:r>
          </a:p>
          <a:p>
            <a:endParaRPr lang="en-US" b="1" dirty="0"/>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7" name="Picture 6">
            <a:extLst>
              <a:ext uri="{FF2B5EF4-FFF2-40B4-BE49-F238E27FC236}">
                <a16:creationId xmlns:a16="http://schemas.microsoft.com/office/drawing/2014/main" id="{B1645576-1D94-F07F-A673-670521BB081C}"/>
              </a:ext>
            </a:extLst>
          </p:cNvPr>
          <p:cNvPicPr>
            <a:picLocks noChangeAspect="1"/>
          </p:cNvPicPr>
          <p:nvPr/>
        </p:nvPicPr>
        <p:blipFill>
          <a:blip r:embed="rId3"/>
          <a:stretch>
            <a:fillRect/>
          </a:stretch>
        </p:blipFill>
        <p:spPr>
          <a:xfrm>
            <a:off x="409144" y="828411"/>
            <a:ext cx="11301037" cy="5641448"/>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D4AC346A-A8E2-8A65-4A97-8D1AC0112E4F}"/>
              </a:ext>
            </a:extLst>
          </p:cNvPr>
          <p:cNvPicPr>
            <a:picLocks noChangeAspect="1"/>
          </p:cNvPicPr>
          <p:nvPr/>
        </p:nvPicPr>
        <p:blipFill>
          <a:blip r:embed="rId3"/>
          <a:stretch>
            <a:fillRect/>
          </a:stretch>
        </p:blipFill>
        <p:spPr>
          <a:xfrm>
            <a:off x="309486" y="850183"/>
            <a:ext cx="11327344" cy="5575699"/>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CE141EBC-5109-A564-8E64-C5C85D9355A0}"/>
              </a:ext>
            </a:extLst>
          </p:cNvPr>
          <p:cNvPicPr>
            <a:picLocks noChangeAspect="1"/>
          </p:cNvPicPr>
          <p:nvPr/>
        </p:nvPicPr>
        <p:blipFill>
          <a:blip r:embed="rId3"/>
          <a:stretch>
            <a:fillRect/>
          </a:stretch>
        </p:blipFill>
        <p:spPr>
          <a:xfrm>
            <a:off x="409144" y="816977"/>
            <a:ext cx="11404908" cy="5605802"/>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626146"/>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7"/>
            <a:ext cx="10467703" cy="3970318"/>
          </a:xfrm>
          <a:prstGeom prst="rect">
            <a:avLst/>
          </a:prstGeom>
          <a:noFill/>
        </p:spPr>
        <p:txBody>
          <a:bodyPr wrap="square" rtlCol="0">
            <a:spAutoFit/>
          </a:bodyPr>
          <a:lstStyle/>
          <a:p>
            <a:r>
              <a:rPr lang="en-US" dirty="0"/>
              <a:t>Key Features and Unique Value Proposition</a:t>
            </a:r>
          </a:p>
          <a:p>
            <a:endParaRPr lang="en-US" dirty="0"/>
          </a:p>
          <a:p>
            <a:r>
              <a:rPr lang="en-US" b="1" dirty="0"/>
              <a:t>Multi-Agent Intelligence </a:t>
            </a:r>
            <a:r>
              <a:rPr lang="en-US" dirty="0"/>
              <a:t>– Multiple AI agents collaborate to analyze player statistics, match performance, and scouting reports.</a:t>
            </a:r>
          </a:p>
          <a:p>
            <a:endParaRPr lang="en-US" b="1" dirty="0"/>
          </a:p>
          <a:p>
            <a:r>
              <a:rPr lang="en-US" b="1" dirty="0"/>
              <a:t>RAG-Based Accuracy </a:t>
            </a:r>
            <a:r>
              <a:rPr lang="en-US" dirty="0"/>
              <a:t>– Retrieves relevant player data to generate reliable, data-driven recommendations.</a:t>
            </a:r>
          </a:p>
          <a:p>
            <a:endParaRPr lang="en-US" dirty="0"/>
          </a:p>
          <a:p>
            <a:r>
              <a:rPr lang="en-US" b="1" dirty="0"/>
              <a:t>Personalized Recommendations </a:t>
            </a:r>
            <a:r>
              <a:rPr lang="en-US" dirty="0"/>
              <a:t>– Suggests suitable players based on position, performance, team needs, and budget.</a:t>
            </a:r>
          </a:p>
          <a:p>
            <a:endParaRPr lang="en-US" dirty="0"/>
          </a:p>
          <a:p>
            <a:r>
              <a:rPr lang="en-US" b="1" dirty="0"/>
              <a:t>Real-Time Analysis </a:t>
            </a:r>
            <a:r>
              <a:rPr lang="en-US" dirty="0"/>
              <a:t>– Updates player evaluations when new performance data becomes available.</a:t>
            </a:r>
          </a:p>
          <a:p>
            <a:endParaRPr lang="en-US" dirty="0"/>
          </a:p>
          <a:p>
            <a:r>
              <a:rPr lang="en-US" b="1" dirty="0"/>
              <a:t>Mult</a:t>
            </a:r>
            <a:r>
              <a:rPr lang="en-US" dirty="0"/>
              <a:t>i-Source Data Integration – Combines match statistics, historical records, and scouting reports.</a:t>
            </a:r>
          </a:p>
          <a:p>
            <a:endParaRPr lang="en-US" dirty="0"/>
          </a:p>
          <a:p>
            <a:r>
              <a:rPr lang="en-US" b="1" dirty="0"/>
              <a:t>Talent Discovery </a:t>
            </a:r>
            <a:r>
              <a:rPr lang="en-US" dirty="0"/>
              <a:t>– Identifies promising players and compares their strengths and weaknesses.</a:t>
            </a:r>
          </a:p>
          <a:p>
            <a:endParaRPr lang="en-US" dirty="0"/>
          </a:p>
          <a:p>
            <a:r>
              <a:rPr lang="en-US" b="1" dirty="0"/>
              <a:t>Scalability </a:t>
            </a:r>
            <a:r>
              <a:rPr lang="en-US" dirty="0"/>
              <a:t>– Uses IBM watsonx.ai and IBM Granite models to support intelligent recruitment workflows.</a:t>
            </a:r>
          </a:p>
          <a:p>
            <a:endParaRPr lang="en-US" dirty="0"/>
          </a:p>
          <a:p>
            <a:r>
              <a:rPr lang="en-US" dirty="0"/>
              <a:t>Overall, the solution acts as a smart AI scouting assistant that helps sports teams identify talent and make better recruitment decisions.</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lvl="0" indent="-457200">
              <a:lnSpc>
                <a:spcPct val="162162"/>
              </a:lnSpc>
              <a:buClr>
                <a:srgbClr val="2B3541"/>
              </a:buClr>
              <a:buSzPts val="1850"/>
              <a:buAutoNum type="arabicPeriod"/>
            </a:pPr>
            <a:r>
              <a:rPr lang="en-US" sz="1850" b="1" dirty="0">
                <a:latin typeface="Times New Roman"/>
                <a:ea typeface="Times New Roman"/>
                <a:cs typeface="Times New Roman"/>
                <a:sym typeface="Times New Roman"/>
              </a:rPr>
              <a:t>Integration with Live Sports Data &amp; Performance Tracking – </a:t>
            </a:r>
          </a:p>
          <a:p>
            <a:pPr lvl="0">
              <a:lnSpc>
                <a:spcPct val="162162"/>
              </a:lnSpc>
              <a:buClr>
                <a:srgbClr val="2B3541"/>
              </a:buClr>
              <a:buSzPts val="1850"/>
            </a:pPr>
            <a:r>
              <a:rPr lang="en-US" sz="1850" dirty="0">
                <a:latin typeface="Times New Roman"/>
                <a:ea typeface="Times New Roman"/>
                <a:cs typeface="Times New Roman"/>
                <a:sym typeface="Times New Roman"/>
              </a:rPr>
              <a:t> The system can be integrated with live sports APIs and performance-tracking platforms to collect updated player statistics, match records, and fitness metrics. This will enable more accurate player evaluations and timely recruitment recommendations.</a:t>
            </a:r>
          </a:p>
          <a:p>
            <a:pPr lvl="0">
              <a:lnSpc>
                <a:spcPct val="162162"/>
              </a:lnSpc>
              <a:buClr>
                <a:srgbClr val="2B3541"/>
              </a:buClr>
              <a:buSzPts val="1850"/>
            </a:pPr>
            <a:endParaRPr lang="en-US" sz="1850" b="1" dirty="0">
              <a:latin typeface="Times New Roman"/>
              <a:ea typeface="Times New Roman"/>
              <a:cs typeface="Times New Roman"/>
              <a:sym typeface="Times New Roman"/>
            </a:endParaRPr>
          </a:p>
          <a:p>
            <a:pPr lvl="0">
              <a:lnSpc>
                <a:spcPct val="162162"/>
              </a:lnSpc>
              <a:buClr>
                <a:srgbClr val="2B3541"/>
              </a:buClr>
              <a:buSzPts val="1850"/>
            </a:pPr>
            <a:r>
              <a:rPr lang="en-US" sz="1850" b="1" dirty="0">
                <a:latin typeface="Times New Roman"/>
                <a:ea typeface="Times New Roman"/>
                <a:cs typeface="Times New Roman"/>
                <a:sym typeface="Times New Roman"/>
              </a:rPr>
              <a:t>2. AI-Powered Scouting Assistant &amp; Multilingual Support – </a:t>
            </a:r>
          </a:p>
          <a:p>
            <a:pPr lvl="0">
              <a:lnSpc>
                <a:spcPct val="162162"/>
              </a:lnSpc>
              <a:buClr>
                <a:srgbClr val="2B3541"/>
              </a:buClr>
              <a:buSzPts val="1850"/>
            </a:pPr>
            <a:r>
              <a:rPr lang="en-US" sz="1850" dirty="0">
                <a:latin typeface="Times New Roman"/>
                <a:ea typeface="Times New Roman"/>
                <a:cs typeface="Times New Roman"/>
                <a:sym typeface="Times New Roman"/>
              </a:rPr>
              <a:t>  Enhancing the system with a voice-enabled assistant and multiple language support will help coaches and scouts interact easily, compare players, and receive recruitment insights in their preferred language.</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449BB916-F205-3028-CABB-5BF6C0FDE215}"/>
              </a:ext>
            </a:extLst>
          </p:cNvPr>
          <p:cNvPicPr>
            <a:picLocks noChangeAspect="1"/>
          </p:cNvPicPr>
          <p:nvPr/>
        </p:nvPicPr>
        <p:blipFill>
          <a:blip r:embed="rId2"/>
          <a:stretch>
            <a:fillRect/>
          </a:stretch>
        </p:blipFill>
        <p:spPr>
          <a:xfrm>
            <a:off x="1926772" y="1045030"/>
            <a:ext cx="7467600" cy="5122910"/>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B6608452-47BC-6AB8-09C7-06D25FBB3EF2}"/>
              </a:ext>
            </a:extLst>
          </p:cNvPr>
          <p:cNvPicPr>
            <a:picLocks noChangeAspect="1"/>
          </p:cNvPicPr>
          <p:nvPr/>
        </p:nvPicPr>
        <p:blipFill>
          <a:blip r:embed="rId2"/>
          <a:stretch>
            <a:fillRect/>
          </a:stretch>
        </p:blipFill>
        <p:spPr>
          <a:xfrm>
            <a:off x="1076067" y="1113494"/>
            <a:ext cx="10039866" cy="5169166"/>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532</TotalTime>
  <Words>1161</Words>
  <Application>Microsoft Office PowerPoint</Application>
  <PresentationFormat>Widescreen</PresentationFormat>
  <Paragraphs>146</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darshinihlgowda@gmail.com</cp:lastModifiedBy>
  <cp:revision>9</cp:revision>
  <dcterms:created xsi:type="dcterms:W3CDTF">2025-07-08T05:06:56Z</dcterms:created>
  <dcterms:modified xsi:type="dcterms:W3CDTF">2026-10-14T17:26:15Z</dcterms:modified>
</cp:coreProperties>
</file>